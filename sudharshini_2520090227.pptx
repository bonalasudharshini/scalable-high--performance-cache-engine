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702" r:id="rId2"/>
  </p:sldMasterIdLst>
  <p:notesMasterIdLst>
    <p:notesMasterId r:id="rId17"/>
  </p:notesMasterIdLst>
  <p:handoutMasterIdLst>
    <p:handoutMasterId r:id="rId18"/>
  </p:handoutMasterIdLst>
  <p:sldIdLst>
    <p:sldId id="314" r:id="rId3"/>
    <p:sldId id="322" r:id="rId4"/>
    <p:sldId id="323" r:id="rId5"/>
    <p:sldId id="266" r:id="rId6"/>
    <p:sldId id="341" r:id="rId7"/>
    <p:sldId id="342" r:id="rId8"/>
    <p:sldId id="343" r:id="rId9"/>
    <p:sldId id="349" r:id="rId10"/>
    <p:sldId id="346" r:id="rId11"/>
    <p:sldId id="345" r:id="rId12"/>
    <p:sldId id="340" r:id="rId13"/>
    <p:sldId id="347" r:id="rId14"/>
    <p:sldId id="348"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82"/>
    <p:restoredTop sz="95833"/>
  </p:normalViewPr>
  <p:slideViewPr>
    <p:cSldViewPr snapToGrid="0" snapToObjects="1">
      <p:cViewPr varScale="1">
        <p:scale>
          <a:sx n="72" d="100"/>
          <a:sy n="72" d="100"/>
        </p:scale>
        <p:origin x="474" y="78"/>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3/9/2026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09-03-2026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09-03-2026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09-03-2026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09-03-2026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09-03-2026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BF734CB-DFAB-944A-8037-9643745D8F20}" type="datetime1">
              <a:rPr lang="en-IN" smtClean="0"/>
              <a:t>09-03-2026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4207299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3A5715E4-0629-499C-B911-44FC06CBB37F}"/>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5051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918335F-2E5B-B14E-9706-E237C81E4155}" type="datetime1">
              <a:rPr lang="en-IN" smtClean="0"/>
              <a:t>09-03-2026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360522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BD6649-7156-A341-B9F2-F045B7551E13}" type="datetime1">
              <a:rPr lang="en-IN" smtClean="0"/>
              <a:t>09-03-2026</a:t>
            </a:fld>
            <a:endParaRPr lang="en-US"/>
          </a:p>
        </p:txBody>
      </p:sp>
      <p:sp>
        <p:nvSpPr>
          <p:cNvPr id="6" name="Footer Placeholder 5"/>
          <p:cNvSpPr>
            <a:spLocks noGrp="1"/>
          </p:cNvSpPr>
          <p:nvPr>
            <p:ph type="ftr" sz="quarter" idx="11"/>
          </p:nvPr>
        </p:nvSpPr>
        <p:spPr/>
        <p:txBody>
          <a:bodyPr/>
          <a:lstStyle/>
          <a:p>
            <a:r>
              <a:rPr lang="en-US"/>
              <a:t>0th REVIEW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71205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977CD1-E97C-BA41-8E49-9F39B98FFBE8}" type="datetime1">
              <a:rPr lang="en-IN" smtClean="0"/>
              <a:t>09-03-2026</a:t>
            </a:fld>
            <a:endParaRPr lang="en-US"/>
          </a:p>
        </p:txBody>
      </p:sp>
      <p:sp>
        <p:nvSpPr>
          <p:cNvPr id="8" name="Footer Placeholder 7"/>
          <p:cNvSpPr>
            <a:spLocks noGrp="1"/>
          </p:cNvSpPr>
          <p:nvPr>
            <p:ph type="ftr" sz="quarter" idx="11"/>
          </p:nvPr>
        </p:nvSpPr>
        <p:spPr/>
        <p:txBody>
          <a:bodyPr/>
          <a:lstStyle/>
          <a:p>
            <a:r>
              <a:rPr lang="en-US"/>
              <a:t>0th REVIEW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035486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3DDBCA1-9406-7A44-8A76-1046B4040777}" type="datetime1">
              <a:rPr lang="en-IN" smtClean="0"/>
              <a:t>09-03-2026</a:t>
            </a:fld>
            <a:endParaRPr lang="en-US"/>
          </a:p>
        </p:txBody>
      </p:sp>
      <p:sp>
        <p:nvSpPr>
          <p:cNvPr id="5" name="Footer Placeholder 3"/>
          <p:cNvSpPr>
            <a:spLocks noGrp="1"/>
          </p:cNvSpPr>
          <p:nvPr>
            <p:ph type="ftr" sz="quarter" idx="11"/>
          </p:nvPr>
        </p:nvSpPr>
        <p:spPr/>
        <p:txBody>
          <a:bodyPr/>
          <a:lstStyle/>
          <a:p>
            <a:r>
              <a:rPr lang="en-US"/>
              <a:t>0th REVIEW         173030211           Department of CSE</a:t>
            </a:r>
          </a:p>
        </p:txBody>
      </p:sp>
      <p:sp>
        <p:nvSpPr>
          <p:cNvPr id="6"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9716237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7FB085D-B69B-9C45-93A5-77F47F2F6792}" type="datetime1">
              <a:rPr lang="en-IN" smtClean="0"/>
              <a:t>09-03-2026</a:t>
            </a:fld>
            <a:endParaRPr lang="en-US"/>
          </a:p>
        </p:txBody>
      </p:sp>
      <p:sp>
        <p:nvSpPr>
          <p:cNvPr id="5" name="Footer Placeholder 2"/>
          <p:cNvSpPr>
            <a:spLocks noGrp="1"/>
          </p:cNvSpPr>
          <p:nvPr>
            <p:ph type="ftr" sz="quarter" idx="11"/>
          </p:nvPr>
        </p:nvSpPr>
        <p:spPr/>
        <p:txBody>
          <a:bodyPr/>
          <a:lstStyle/>
          <a:p>
            <a:r>
              <a:rPr lang="en-US"/>
              <a:t>0th REVIEW         173030211           Department of CSE</a:t>
            </a:r>
          </a:p>
        </p:txBody>
      </p:sp>
      <p:sp>
        <p:nvSpPr>
          <p:cNvPr id="6"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0380634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C61B69B7-E8EF-6346-9390-671C5B22ACF3}" type="datetime1">
              <a:rPr lang="en-IN" smtClean="0"/>
              <a:t>09-03-2026</a:t>
            </a:fld>
            <a:endParaRPr lang="en-US"/>
          </a:p>
        </p:txBody>
      </p:sp>
      <p:sp>
        <p:nvSpPr>
          <p:cNvPr id="5" name="Footer Placeholder 5"/>
          <p:cNvSpPr>
            <a:spLocks noGrp="1"/>
          </p:cNvSpPr>
          <p:nvPr>
            <p:ph type="ftr" sz="quarter" idx="11"/>
          </p:nvPr>
        </p:nvSpPr>
        <p:spPr/>
        <p:txBody>
          <a:bodyPr/>
          <a:lstStyle/>
          <a:p>
            <a:r>
              <a:rPr lang="en-US"/>
              <a:t>0th REVIEW         173030211           Department of CSE</a:t>
            </a:r>
          </a:p>
        </p:txBody>
      </p:sp>
      <p:sp>
        <p:nvSpPr>
          <p:cNvPr id="6"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41340775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920709D-BF3C-5743-B60D-B01C16014A7B}" type="datetime1">
              <a:rPr lang="en-IN" smtClean="0"/>
              <a:t>09-03-2026</a:t>
            </a:fld>
            <a:endParaRPr lang="en-US"/>
          </a:p>
        </p:txBody>
      </p:sp>
      <p:sp>
        <p:nvSpPr>
          <p:cNvPr id="6" name="Footer Placeholder 5"/>
          <p:cNvSpPr>
            <a:spLocks noGrp="1"/>
          </p:cNvSpPr>
          <p:nvPr>
            <p:ph type="ftr" sz="quarter" idx="11"/>
          </p:nvPr>
        </p:nvSpPr>
        <p:spPr/>
        <p:txBody>
          <a:bodyPr/>
          <a:lstStyle/>
          <a:p>
            <a:r>
              <a:rPr lang="en-US"/>
              <a:t>0th REVIEW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670399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885D85A-3465-384D-962A-D11BB8B39525}" type="datetime1">
              <a:rPr lang="en-IN" smtClean="0"/>
              <a:t>09-03-2026</a:t>
            </a:fld>
            <a:endParaRPr lang="en-US"/>
          </a:p>
        </p:txBody>
      </p:sp>
      <p:sp>
        <p:nvSpPr>
          <p:cNvPr id="6" name="Footer Placeholder 5"/>
          <p:cNvSpPr>
            <a:spLocks noGrp="1"/>
          </p:cNvSpPr>
          <p:nvPr>
            <p:ph type="ftr" sz="quarter" idx="11"/>
          </p:nvPr>
        </p:nvSpPr>
        <p:spPr/>
        <p:txBody>
          <a:bodyPr/>
          <a:lstStyle/>
          <a:p>
            <a:r>
              <a:rPr lang="en-US"/>
              <a:t>0th REVIEW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4158884833"/>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2885D85A-3465-384D-962A-D11BB8B39525}" type="datetime1">
              <a:rPr lang="en-IN" smtClean="0"/>
              <a:t>09-03-2026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496177633"/>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29F4C6E9-161C-B44B-AD70-8813DADCDED1}" type="datetime1">
              <a:rPr lang="en-IN" smtClean="0"/>
              <a:t>09-03-2026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44257074"/>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885D85A-3465-384D-962A-D11BB8B39525}" type="datetime1">
              <a:rPr lang="en-IN" smtClean="0"/>
              <a:t>09-03-2026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890999604"/>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885D85A-3465-384D-962A-D11BB8B39525}" type="datetime1">
              <a:rPr lang="en-IN" smtClean="0"/>
              <a:t>09-03-2026</a:t>
            </a:fld>
            <a:endParaRPr lang="en-US"/>
          </a:p>
        </p:txBody>
      </p:sp>
      <p:sp>
        <p:nvSpPr>
          <p:cNvPr id="4"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702496393"/>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885D85A-3465-384D-962A-D11BB8B39525}" type="datetime1">
              <a:rPr lang="en-IN" smtClean="0"/>
              <a:t>09-03-2026</a:t>
            </a:fld>
            <a:endParaRPr lang="en-US"/>
          </a:p>
        </p:txBody>
      </p:sp>
      <p:sp>
        <p:nvSpPr>
          <p:cNvPr id="4"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4175861404"/>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4444B0-6575-954F-AAA2-CB0D0417F745}" type="datetime1">
              <a:rPr lang="en-IN" smtClean="0"/>
              <a:t>09-03-2026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4454220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E7A436-9AA5-6C4B-AFF1-C34F60A9AB89}" type="datetime1">
              <a:rPr lang="en-IN" smtClean="0"/>
              <a:t>09-03-2026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7524716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09-03-2026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slideLayout" Target="../slideLayouts/slideLayout23.xml"/><Relationship Id="rId3" Type="http://schemas.openxmlformats.org/officeDocument/2006/relationships/slideLayout" Target="../slideLayouts/slideLayout8.xml"/><Relationship Id="rId21" Type="http://schemas.openxmlformats.org/officeDocument/2006/relationships/image" Target="../media/image3.png"/><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20"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23" Type="http://schemas.openxmlformats.org/officeDocument/2006/relationships/image" Target="../media/image5.png"/><Relationship Id="rId10" Type="http://schemas.openxmlformats.org/officeDocument/2006/relationships/slideLayout" Target="../slideLayouts/slideLayout15.xml"/><Relationship Id="rId19" Type="http://schemas.openxmlformats.org/officeDocument/2006/relationships/theme" Target="../theme/theme2.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09-03-2026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9F4C6E9-161C-B44B-AD70-8813DADCDED1}" type="datetime1">
              <a:rPr lang="en-IN" smtClean="0"/>
              <a:t>09-03-2026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a:t>0th REVIEW         173030211           Department of CSE</a:t>
            </a: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571326116"/>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651" r:id="rId18"/>
  </p:sldLayoutIdLst>
  <p:hf hdr="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Scalable High- Performance Cache Engine</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a:t>
            </a:r>
            <a:r>
              <a:rPr lang="en-US" sz="9600" dirty="0" err="1"/>
              <a:t>B.Sudharshini</a:t>
            </a:r>
            <a:endParaRPr lang="en-US" sz="9600" dirty="0"/>
          </a:p>
          <a:p>
            <a:pPr marL="0" indent="0" algn="ctr">
              <a:buNone/>
            </a:pPr>
            <a:r>
              <a:rPr lang="en-US" sz="9600" dirty="0"/>
              <a:t>Student ID: 2520090227</a:t>
            </a:r>
            <a:endParaRPr lang="en-US" sz="2400" dirty="0"/>
          </a:p>
          <a:p>
            <a:pPr marL="0" indent="0" algn="ctr">
              <a:buNone/>
            </a:pPr>
            <a:r>
              <a:rPr lang="en-US" sz="11200" dirty="0"/>
              <a:t>Cluster: 1</a:t>
            </a:r>
          </a:p>
          <a:p>
            <a:pPr marL="0" indent="0" algn="ctr">
              <a:buNone/>
            </a:pPr>
            <a:r>
              <a:rPr lang="en-US" sz="11200" dirty="0"/>
              <a:t>Section: 3</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09-03-2026</a:t>
            </a:fld>
            <a:endParaRPr lang="en-US"/>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Dr Jayaram Boga</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700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32623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fontScale="92500" lnSpcReduction="20000"/>
          </a:bodyPr>
          <a:lstStyle/>
          <a:p>
            <a:r>
              <a:rPr lang="en-US" sz="2400" dirty="0"/>
              <a:t>This project is an interactive </a:t>
            </a:r>
            <a:r>
              <a:rPr lang="en-US" sz="2400" b="1" dirty="0"/>
              <a:t>LRU (Least Recently Used) Cache Engine</a:t>
            </a:r>
            <a:r>
              <a:rPr lang="en-US" sz="2400" dirty="0"/>
              <a:t> developed using JavaScript to demonstrate the practical use of fundamental data structures and caching algorithms. The system allows users to insert, retrieve, delete, and manage key–value pairs through a simple web interface. It uses a </a:t>
            </a:r>
            <a:r>
              <a:rPr lang="en-US" sz="2400" b="1" dirty="0"/>
              <a:t>HashMap for fast lookup</a:t>
            </a:r>
            <a:r>
              <a:rPr lang="en-US" sz="2400" dirty="0"/>
              <a:t> and a </a:t>
            </a:r>
            <a:r>
              <a:rPr lang="en-US" sz="2400" b="1" dirty="0"/>
              <a:t>Doubly Linked List</a:t>
            </a:r>
            <a:r>
              <a:rPr lang="en-US" sz="2400" dirty="0"/>
              <a:t> to maintain the order of recently used items, ensuring efficient cache </a:t>
            </a:r>
            <a:r>
              <a:rPr lang="en-US" sz="2400" dirty="0" err="1"/>
              <a:t>operations.The</a:t>
            </a:r>
            <a:r>
              <a:rPr lang="en-US" sz="2400" dirty="0"/>
              <a:t> application also tracks performance metrics such as </a:t>
            </a:r>
            <a:r>
              <a:rPr lang="en-US" sz="2400" b="1" dirty="0"/>
              <a:t>cache hits, misses, hit ratio, and evictions</a:t>
            </a:r>
            <a:r>
              <a:rPr lang="en-US" sz="2400" dirty="0"/>
              <a:t>, and visualizes cache usage using charts and logs. Unlike production caching platforms such as Redis or Memcached, this project focuses on educational clarity by showing how data structures like hash maps and linked lists work together to implement an efficient caching system.</a:t>
            </a:r>
          </a:p>
          <a:p>
            <a:endParaRPr lang="en-US" sz="2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2715783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457200" lvl="1" indent="-339725" algn="just"/>
            <a:r>
              <a:rPr lang="en-US" dirty="0"/>
              <a:t>Popular caching systems such as Redis, Memcached, and Apache Ignite are widely used to improve application performance. These platforms store frequently accessed data in memory so that it can be retrieved much faster than from databases. They support high-speed data processing, scalability, and integration with large distributed systems. Their main goal is to handle large volumes of requests efficiently in real-world applications.</a:t>
            </a:r>
          </a:p>
          <a:p>
            <a:pPr marL="457200" lvl="1" indent="-339725" algn="just"/>
            <a:r>
              <a:rPr lang="en-US" dirty="0"/>
              <a:t>Popular caching systems such as Redis, Memcached, and Apache Ignite are widely used to improve application performance. These platforms store frequently accessed data in memory so that it can be retrieved much faster than from databases. They support high-speed data processing, scalability, and integration with large distributed systems. Their main goal is to handle large volumes of requests efficiently in real-world applications.</a:t>
            </a: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930833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p:txBody>
          <a:bodyPr>
            <a:normAutofit fontScale="92500" lnSpcReduction="20000"/>
          </a:bodyPr>
          <a:lstStyle/>
          <a:p>
            <a:r>
              <a:rPr lang="en-US" dirty="0"/>
              <a:t>Most existing caching systems are designed for production environments rather than educational purposes. They involve complex configurations, server setups, and backend infrastructure that beginners may find difficult to understand. Users cannot easily observe how internal mechanisms like cache hits, misses, and eviction policies work step by step. As a result, these systems focus on performance and scalability rather than clearly demonstrating the underlying data structure concepts.</a:t>
            </a:r>
          </a:p>
          <a:p>
            <a:r>
              <a:rPr lang="en-US" dirty="0"/>
              <a:t>Most existing caching systems are designed for production environments rather than educational purposes. They involve complex configurations, server setups, and backend infrastructure that beginners may find difficult to understand. Users cannot easily observe how internal mechanisms like cache hits, misses, and eviction policies work step by step. As a result, these systems focus on performance and scalability rather than clearly demonstrating the underlying data structure concepts.</a:t>
            </a: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3205484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9" name="Content Placeholder 8">
            <a:extLst>
              <a:ext uri="{FF2B5EF4-FFF2-40B4-BE49-F238E27FC236}">
                <a16:creationId xmlns:a16="http://schemas.microsoft.com/office/drawing/2014/main" id="{BB15296F-156D-BE47-727B-C34C7CDD40D4}"/>
              </a:ext>
            </a:extLst>
          </p:cNvPr>
          <p:cNvSpPr>
            <a:spLocks noGrp="1"/>
          </p:cNvSpPr>
          <p:nvPr>
            <p:ph idx="1"/>
          </p:nvPr>
        </p:nvSpPr>
        <p:spPr/>
        <p:txBody>
          <a:bodyPr>
            <a:normAutofit fontScale="85000" lnSpcReduction="20000"/>
          </a:bodyPr>
          <a:lstStyle/>
          <a:p>
            <a:r>
              <a:rPr lang="en-US" b="1" dirty="0"/>
              <a:t>Frontend (HTML / CSS / JavaScript):</a:t>
            </a:r>
            <a:br>
              <a:rPr lang="en-US" dirty="0"/>
            </a:br>
            <a:r>
              <a:rPr lang="en-US" dirty="0"/>
              <a:t>Provides the user interface for entering keys, values, and cache capacity while performing operations like PUT, GET, and DELETE. It also displays cache state, statistics, and graphs for easy visualization.</a:t>
            </a:r>
          </a:p>
          <a:p>
            <a:r>
              <a:rPr lang="en-US" b="1" dirty="0"/>
              <a:t>Backend (JavaScript Data Structures):</a:t>
            </a:r>
            <a:br>
              <a:rPr lang="en-US" dirty="0"/>
            </a:br>
            <a:r>
              <a:rPr lang="en-US" dirty="0"/>
              <a:t>Implements the LRU cache logic using a HashMap for fast lookup and a Doubly Linked List to maintain access order. Additional structures like a stack and queue track operations and evicted keys.</a:t>
            </a:r>
          </a:p>
          <a:p>
            <a:r>
              <a:rPr lang="en-US" b="1" dirty="0"/>
              <a:t>Workflow:</a:t>
            </a:r>
            <a:br>
              <a:rPr lang="en-US" dirty="0"/>
            </a:br>
            <a:r>
              <a:rPr lang="en-US" dirty="0"/>
              <a:t>User enters a key and value → the system checks if the key exists and updates or inserts it in the cache. If capacity is exceeded, the least recently used item is automatically removed.</a:t>
            </a:r>
          </a:p>
          <a:p>
            <a:r>
              <a:rPr lang="en-US" b="1" dirty="0"/>
              <a:t>Future Scope:</a:t>
            </a:r>
            <a:br>
              <a:rPr lang="en-US" dirty="0"/>
            </a:br>
            <a:r>
              <a:rPr lang="en-US" dirty="0"/>
              <a:t>The system can be extended with distributed caching, database integration, and cloud deployment. It can also include advanced analytics and real-time monitoring like systems such as Redis.</a:t>
            </a:r>
          </a:p>
          <a:p>
            <a:endParaRPr lang="en-US" dirty="0"/>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489011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p:txBody>
          <a:bodyPr>
            <a:normAutofit fontScale="70000" lnSpcReduction="20000"/>
          </a:bodyPr>
          <a:lstStyle/>
          <a:p>
            <a:r>
              <a:rPr lang="en-US" b="1" dirty="0"/>
              <a:t>User Interface Module</a:t>
            </a:r>
            <a:r>
              <a:rPr lang="en-US" dirty="0"/>
              <a:t> – Provides a web-based interface using </a:t>
            </a:r>
            <a:r>
              <a:rPr lang="en-US" b="1" dirty="0"/>
              <a:t>HTML, CSS, and JavaScript</a:t>
            </a:r>
            <a:r>
              <a:rPr lang="en-US" dirty="0"/>
              <a:t> for user interaction. It allows users to set cache capacity, enter keys and values, and perform cache operations through buttons and input fields.</a:t>
            </a:r>
          </a:p>
          <a:p>
            <a:r>
              <a:rPr lang="en-US" b="1" dirty="0"/>
              <a:t>Input Handling Module</a:t>
            </a:r>
            <a:r>
              <a:rPr lang="en-US" dirty="0"/>
              <a:t> – Accepts and validates user inputs such as cache capacity, keys, and values. It ensures that valid data is entered before performing operations like PUT, GET, DELETE, or CLEAR.</a:t>
            </a:r>
          </a:p>
          <a:p>
            <a:r>
              <a:rPr lang="en-US" b="1" dirty="0"/>
              <a:t>Cache Management Module</a:t>
            </a:r>
            <a:r>
              <a:rPr lang="en-US" dirty="0"/>
              <a:t> – Implements the LRU caching logic using a </a:t>
            </a:r>
            <a:r>
              <a:rPr lang="en-US" b="1" dirty="0"/>
              <a:t>HashMap for fast lookup</a:t>
            </a:r>
            <a:r>
              <a:rPr lang="en-US" dirty="0"/>
              <a:t> and a </a:t>
            </a:r>
            <a:r>
              <a:rPr lang="en-US" b="1" dirty="0"/>
              <a:t>Doubly Linked List</a:t>
            </a:r>
            <a:r>
              <a:rPr lang="en-US" dirty="0"/>
              <a:t> to maintain the order of recently used items. This ensures efficient insertion, retrieval, and eviction of cache entries.</a:t>
            </a:r>
          </a:p>
          <a:p>
            <a:r>
              <a:rPr lang="en-US" b="1" dirty="0"/>
              <a:t>Performance Monitoring Module</a:t>
            </a:r>
            <a:r>
              <a:rPr lang="en-US" dirty="0"/>
              <a:t> – Tracks cache statistics such as hits, misses, hit ratio, and evictions. It also visualizes cache usage through charts and maintains operation history and eviction logs.</a:t>
            </a:r>
          </a:p>
          <a:p>
            <a:r>
              <a:rPr lang="en-US" b="1" dirty="0"/>
              <a:t>Output Module</a:t>
            </a:r>
            <a:r>
              <a:rPr lang="en-US" dirty="0"/>
              <a:t> – Displays cache state, statistics, operation history, and graphical analytics on the dashboard. It also provides alert messages for operations like successful retrieval or missing keys.</a:t>
            </a:r>
          </a:p>
          <a:p>
            <a:r>
              <a:rPr lang="en-US" b="1" dirty="0"/>
              <a:t>Future Enhancement Module</a:t>
            </a:r>
            <a:r>
              <a:rPr lang="en-US" dirty="0"/>
              <a:t> – The system can be extended with distributed caching, backend database integration, and cloud deployment. Additional features such as real-time analytics and system monitoring similar to platforms like Redis can also be added.</a:t>
            </a:r>
          </a:p>
          <a:p>
            <a:pPr marL="0" indent="0">
              <a:buNone/>
            </a:pPr>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4072965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BA657-1256-7267-8780-05A32CC78F5C}"/>
              </a:ext>
            </a:extLst>
          </p:cNvPr>
          <p:cNvSpPr>
            <a:spLocks noGrp="1"/>
          </p:cNvSpPr>
          <p:nvPr>
            <p:ph type="title"/>
          </p:nvPr>
        </p:nvSpPr>
        <p:spPr/>
        <p:txBody>
          <a:bodyPr/>
          <a:lstStyle/>
          <a:p>
            <a:r>
              <a:rPr lang="en-IN" b="1" dirty="0"/>
              <a:t>                             Objectives</a:t>
            </a:r>
          </a:p>
        </p:txBody>
      </p:sp>
      <p:sp>
        <p:nvSpPr>
          <p:cNvPr id="9" name="Rectangle 1">
            <a:extLst>
              <a:ext uri="{FF2B5EF4-FFF2-40B4-BE49-F238E27FC236}">
                <a16:creationId xmlns:a16="http://schemas.microsoft.com/office/drawing/2014/main" id="{EB9AF54B-C824-46F9-B0B0-07E6A100C9E4}"/>
              </a:ext>
            </a:extLst>
          </p:cNvPr>
          <p:cNvSpPr>
            <a:spLocks noGrp="1" noChangeArrowheads="1"/>
          </p:cNvSpPr>
          <p:nvPr>
            <p:ph idx="1"/>
          </p:nvPr>
        </p:nvSpPr>
        <p:spPr bwMode="auto">
          <a:xfrm>
            <a:off x="838200" y="2431634"/>
            <a:ext cx="10912522"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To design and develop an </a:t>
            </a:r>
            <a:r>
              <a:rPr kumimoji="0" lang="en-US" altLang="en-US" sz="1800" b="1" i="0" u="none" strike="noStrike" cap="none" normalizeH="0" baseline="0">
                <a:ln>
                  <a:noFill/>
                </a:ln>
                <a:solidFill>
                  <a:schemeClr val="tx1"/>
                </a:solidFill>
                <a:effectLst/>
                <a:latin typeface="Arial" panose="020B0604020202020204" pitchFamily="34" charset="0"/>
              </a:rPr>
              <a:t>interactive web-based LRU Cache Engine</a:t>
            </a:r>
            <a:r>
              <a:rPr kumimoji="0" lang="en-US" altLang="en-US" sz="1800" b="0" i="0" u="none" strike="noStrike" cap="none" normalizeH="0" baseline="0">
                <a:ln>
                  <a:noFill/>
                </a:ln>
                <a:solidFill>
                  <a:schemeClr val="tx1"/>
                </a:solidFill>
                <a:effectLst/>
                <a:latin typeface="Arial" panose="020B0604020202020204" pitchFamily="34" charset="0"/>
              </a:rPr>
              <a:t> using HTML, CSS, and JavaScript.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To demonstrate the practical use of </a:t>
            </a:r>
            <a:r>
              <a:rPr kumimoji="0" lang="en-US" altLang="en-US" sz="1800" b="1" i="0" u="none" strike="noStrike" cap="none" normalizeH="0" baseline="0">
                <a:ln>
                  <a:noFill/>
                </a:ln>
                <a:solidFill>
                  <a:schemeClr val="tx1"/>
                </a:solidFill>
                <a:effectLst/>
                <a:latin typeface="Arial" panose="020B0604020202020204" pitchFamily="34" charset="0"/>
              </a:rPr>
              <a:t>data structures such as HashMap and Doubly Linked List</a:t>
            </a:r>
            <a:r>
              <a:rPr kumimoji="0" lang="en-US" altLang="en-US" sz="1800" b="0" i="0" u="none" strike="noStrike" cap="none" normalizeH="0" baseline="0">
                <a:ln>
                  <a:noFill/>
                </a:ln>
                <a:solidFill>
                  <a:schemeClr val="tx1"/>
                </a:solidFill>
                <a:effectLst/>
                <a:latin typeface="Arial" panose="020B0604020202020204" pitchFamily="34" charset="0"/>
              </a:rPr>
              <a:t> in implementing caching algorithms.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To provide a </a:t>
            </a:r>
            <a:r>
              <a:rPr kumimoji="0" lang="en-US" altLang="en-US" sz="1800" b="1" i="0" u="none" strike="noStrike" cap="none" normalizeH="0" baseline="0">
                <a:ln>
                  <a:noFill/>
                </a:ln>
                <a:solidFill>
                  <a:schemeClr val="tx1"/>
                </a:solidFill>
                <a:effectLst/>
                <a:latin typeface="Arial" panose="020B0604020202020204" pitchFamily="34" charset="0"/>
              </a:rPr>
              <a:t>visual representation of cache operations</a:t>
            </a:r>
            <a:r>
              <a:rPr kumimoji="0" lang="en-US" altLang="en-US" sz="1800" b="0" i="0" u="none" strike="noStrike" cap="none" normalizeH="0" baseline="0">
                <a:ln>
                  <a:noFill/>
                </a:ln>
                <a:solidFill>
                  <a:schemeClr val="tx1"/>
                </a:solidFill>
                <a:effectLst/>
                <a:latin typeface="Arial" panose="020B0604020202020204" pitchFamily="34" charset="0"/>
              </a:rPr>
              <a:t> like insertion, retrieval, deletion, and eviction.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To monitor cache performance using </a:t>
            </a:r>
            <a:r>
              <a:rPr kumimoji="0" lang="en-US" altLang="en-US" sz="1800" b="1" i="0" u="none" strike="noStrike" cap="none" normalizeH="0" baseline="0">
                <a:ln>
                  <a:noFill/>
                </a:ln>
                <a:solidFill>
                  <a:schemeClr val="tx1"/>
                </a:solidFill>
                <a:effectLst/>
                <a:latin typeface="Arial" panose="020B0604020202020204" pitchFamily="34" charset="0"/>
              </a:rPr>
              <a:t>statistics such as hits, misses, hit ratio, and eviction count</a:t>
            </a:r>
            <a:r>
              <a:rPr kumimoji="0" lang="en-US" altLang="en-US"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To help users understand how the </a:t>
            </a:r>
            <a:r>
              <a:rPr kumimoji="0" lang="en-US" altLang="en-US" sz="1800" b="1" i="0" u="none" strike="noStrike" cap="none" normalizeH="0" baseline="0">
                <a:ln>
                  <a:noFill/>
                </a:ln>
                <a:solidFill>
                  <a:schemeClr val="tx1"/>
                </a:solidFill>
                <a:effectLst/>
                <a:latin typeface="Arial" panose="020B0604020202020204" pitchFamily="34" charset="0"/>
              </a:rPr>
              <a:t>Least Recently Used (LRU) caching policy</a:t>
            </a:r>
            <a:r>
              <a:rPr kumimoji="0" lang="en-US" altLang="en-US" sz="1800" b="0" i="0" u="none" strike="noStrike" cap="none" normalizeH="0" baseline="0">
                <a:ln>
                  <a:noFill/>
                </a:ln>
                <a:solidFill>
                  <a:schemeClr val="tx1"/>
                </a:solidFill>
                <a:effectLst/>
                <a:latin typeface="Arial" panose="020B0604020202020204" pitchFamily="34" charset="0"/>
              </a:rPr>
              <a:t> works in real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To visualize cache usage trends using </a:t>
            </a:r>
            <a:r>
              <a:rPr kumimoji="0" lang="en-US" altLang="en-US" sz="1800" b="1" i="0" u="none" strike="noStrike" cap="none" normalizeH="0" baseline="0">
                <a:ln>
                  <a:noFill/>
                </a:ln>
                <a:solidFill>
                  <a:schemeClr val="tx1"/>
                </a:solidFill>
                <a:effectLst/>
                <a:latin typeface="Arial" panose="020B0604020202020204" pitchFamily="34" charset="0"/>
              </a:rPr>
              <a:t>graphs and dashboards</a:t>
            </a:r>
            <a:r>
              <a:rPr kumimoji="0" lang="en-US" altLang="en-US"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To provide features like </a:t>
            </a:r>
            <a:r>
              <a:rPr kumimoji="0" lang="en-US" altLang="en-US" sz="1800" b="1" i="0" u="none" strike="noStrike" cap="none" normalizeH="0" baseline="0">
                <a:ln>
                  <a:noFill/>
                </a:ln>
                <a:solidFill>
                  <a:schemeClr val="tx1"/>
                </a:solidFill>
                <a:effectLst/>
                <a:latin typeface="Arial" panose="020B0604020202020204" pitchFamily="34" charset="0"/>
              </a:rPr>
              <a:t>operation history tracking and eviction monitoring</a:t>
            </a:r>
            <a:r>
              <a:rPr kumimoji="0" lang="en-US" altLang="en-US" sz="1800" b="0" i="0" u="none" strike="noStrike" cap="none" normalizeH="0" baseline="0">
                <a:ln>
                  <a:noFill/>
                </a:ln>
                <a:solidFill>
                  <a:schemeClr val="tx1"/>
                </a:solidFill>
                <a:effectLst/>
                <a:latin typeface="Arial" panose="020B0604020202020204" pitchFamily="34" charset="0"/>
              </a:rPr>
              <a:t> for better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To build a system that improves understanding of </a:t>
            </a:r>
            <a:r>
              <a:rPr kumimoji="0" lang="en-US" altLang="en-US" sz="1800" b="1" i="0" u="none" strike="noStrike" cap="none" normalizeH="0" baseline="0">
                <a:ln>
                  <a:noFill/>
                </a:ln>
                <a:solidFill>
                  <a:schemeClr val="tx1"/>
                </a:solidFill>
                <a:effectLst/>
                <a:latin typeface="Arial" panose="020B0604020202020204" pitchFamily="34" charset="0"/>
              </a:rPr>
              <a:t>efficient data access and memory management concepts</a:t>
            </a:r>
            <a:r>
              <a:rPr kumimoji="0" lang="en-US" altLang="en-US" sz="1800" b="0" i="0" u="none" strike="noStrike" cap="none" normalizeH="0" baseline="0">
                <a:ln>
                  <a:noFill/>
                </a:ln>
                <a:solidFill>
                  <a:schemeClr val="tx1"/>
                </a:solidFill>
                <a:effectLst/>
                <a:latin typeface="Arial" panose="020B0604020202020204" pitchFamily="34" charset="0"/>
              </a:rPr>
              <a:t>.</a:t>
            </a:r>
          </a:p>
        </p:txBody>
      </p:sp>
      <p:sp>
        <p:nvSpPr>
          <p:cNvPr id="4" name="Date Placeholder 3">
            <a:extLst>
              <a:ext uri="{FF2B5EF4-FFF2-40B4-BE49-F238E27FC236}">
                <a16:creationId xmlns:a16="http://schemas.microsoft.com/office/drawing/2014/main" id="{85B99C11-2619-FA73-16C1-63AD24A7FA84}"/>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3F79D668-B134-83E6-97C7-95D62B1B776E}"/>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6E6583B-383B-D07C-443F-5E3120247F0C}"/>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3918225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130589"/>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a:xfrm>
            <a:off x="677517" y="1139687"/>
            <a:ext cx="10836965" cy="6241774"/>
          </a:xfrm>
        </p:spPr>
        <p:txBody>
          <a:bodyPr>
            <a:normAutofit fontScale="25000" lnSpcReduction="20000"/>
          </a:bodyPr>
          <a:lstStyle/>
          <a:p>
            <a:r>
              <a:rPr lang="en-US" sz="6200" b="1" dirty="0"/>
              <a:t>CO1 – Algorithm Analysis and Efficiency</a:t>
            </a:r>
            <a:endParaRPr lang="en-US" sz="6200" dirty="0"/>
          </a:p>
          <a:p>
            <a:r>
              <a:rPr lang="en-US" sz="6200" dirty="0"/>
              <a:t>Implemented an </a:t>
            </a:r>
            <a:r>
              <a:rPr lang="en-US" sz="6200" b="1" dirty="0"/>
              <a:t>LRU caching algorithm</a:t>
            </a:r>
            <a:r>
              <a:rPr lang="en-US" sz="6200" dirty="0"/>
              <a:t> with efficient operations.</a:t>
            </a:r>
          </a:p>
          <a:p>
            <a:r>
              <a:rPr lang="en-US" sz="6200" dirty="0"/>
              <a:t>Demonstrated </a:t>
            </a:r>
            <a:r>
              <a:rPr lang="en-US" sz="6200" b="1" dirty="0"/>
              <a:t>time complexity analysis</a:t>
            </a:r>
            <a:r>
              <a:rPr lang="en-US" sz="6200" dirty="0"/>
              <a:t> where cache operations like GET, PUT, and DELETE work in </a:t>
            </a:r>
            <a:r>
              <a:rPr lang="en-US" sz="6200" b="1" dirty="0"/>
              <a:t>O(1) time</a:t>
            </a:r>
            <a:r>
              <a:rPr lang="en-US" sz="6200" dirty="0"/>
              <a:t> using optimized data structures.</a:t>
            </a:r>
          </a:p>
          <a:p>
            <a:r>
              <a:rPr lang="en-US" sz="6200" b="1" dirty="0"/>
              <a:t>CO2 – Abstract Data Types using Linked Lists</a:t>
            </a:r>
            <a:endParaRPr lang="en-US" sz="6200" dirty="0"/>
          </a:p>
          <a:p>
            <a:r>
              <a:rPr lang="en-US" sz="6200" dirty="0"/>
              <a:t>Implemented a </a:t>
            </a:r>
            <a:r>
              <a:rPr lang="en-US" sz="6200" b="1" dirty="0"/>
              <a:t>Doubly Linked List ADT</a:t>
            </a:r>
            <a:r>
              <a:rPr lang="en-US" sz="6200" dirty="0"/>
              <a:t> to maintain the order of recently used cache elements.</a:t>
            </a:r>
          </a:p>
          <a:p>
            <a:r>
              <a:rPr lang="en-US" sz="6200" dirty="0"/>
              <a:t>Performed operations such as </a:t>
            </a:r>
            <a:r>
              <a:rPr lang="en-US" sz="6200" b="1" dirty="0"/>
              <a:t>insertion, deletion, and traversal</a:t>
            </a:r>
            <a:r>
              <a:rPr lang="en-US" sz="6200" dirty="0"/>
              <a:t> to manage cache nodes efficiently.</a:t>
            </a:r>
          </a:p>
          <a:p>
            <a:r>
              <a:rPr lang="en-US" sz="6200" b="1" dirty="0"/>
              <a:t>CO3 – Stack and Queue Applications</a:t>
            </a:r>
            <a:endParaRPr lang="en-US" sz="6200" dirty="0"/>
          </a:p>
          <a:p>
            <a:r>
              <a:rPr lang="en-US" sz="6200" dirty="0"/>
              <a:t>Used a </a:t>
            </a:r>
            <a:r>
              <a:rPr lang="en-US" sz="6200" b="1" dirty="0"/>
              <a:t>Stack</a:t>
            </a:r>
            <a:r>
              <a:rPr lang="en-US" sz="6200" dirty="0"/>
              <a:t> to store operation history of cache activities.</a:t>
            </a:r>
          </a:p>
          <a:p>
            <a:r>
              <a:rPr lang="en-US" sz="6200" dirty="0"/>
              <a:t>Implemented a </a:t>
            </a:r>
            <a:r>
              <a:rPr lang="en-US" sz="6200" b="1" dirty="0"/>
              <a:t>Queue</a:t>
            </a:r>
            <a:r>
              <a:rPr lang="en-US" sz="6200" dirty="0"/>
              <a:t> to maintain the eviction list of keys removed when cache capacity is exceeded.</a:t>
            </a:r>
          </a:p>
          <a:p>
            <a:r>
              <a:rPr lang="en-US" sz="6200" b="1" dirty="0"/>
              <a:t>CO4 – Hash-Based Data Structures</a:t>
            </a:r>
            <a:endParaRPr lang="en-US" sz="6200" dirty="0"/>
          </a:p>
          <a:p>
            <a:r>
              <a:rPr lang="en-US" sz="6200" dirty="0"/>
              <a:t>Used a </a:t>
            </a:r>
            <a:r>
              <a:rPr lang="en-US" sz="6200" b="1" dirty="0"/>
              <a:t>HashMap</a:t>
            </a:r>
            <a:r>
              <a:rPr lang="en-US" sz="6200" dirty="0"/>
              <a:t> for constant-time lookup of cache entries.</a:t>
            </a:r>
          </a:p>
          <a:p>
            <a:r>
              <a:rPr lang="en-US" sz="6200" dirty="0"/>
              <a:t>Combined HashMap with a Doubly Linked List to build an efficient </a:t>
            </a:r>
            <a:r>
              <a:rPr lang="en-US" sz="6200" b="1" dirty="0"/>
              <a:t>LRU cache data structure</a:t>
            </a:r>
            <a:r>
              <a:rPr lang="en-US" sz="6200" dirty="0"/>
              <a:t>.</a:t>
            </a:r>
          </a:p>
          <a:p>
            <a:r>
              <a:rPr lang="en-US" sz="6200" b="1" dirty="0"/>
              <a:t>CO5 – Practical Application of Linear Data Structures</a:t>
            </a:r>
            <a:endParaRPr lang="en-US" sz="6200" dirty="0"/>
          </a:p>
          <a:p>
            <a:r>
              <a:rPr lang="en-US" sz="6200" dirty="0"/>
              <a:t>Developed a </a:t>
            </a:r>
            <a:r>
              <a:rPr lang="en-US" sz="6200" b="1" dirty="0"/>
              <a:t>web-based LRU Cache Engine</a:t>
            </a:r>
            <a:r>
              <a:rPr lang="en-US" sz="6200" dirty="0"/>
              <a:t> that demonstrates real-world use of linked lists, stacks, queues, and hashing.</a:t>
            </a:r>
          </a:p>
          <a:p>
            <a:r>
              <a:rPr lang="en-US" sz="6200" dirty="0"/>
              <a:t>Visualized cache operations, statistics, and performance through a user interface.</a:t>
            </a:r>
          </a:p>
          <a:p>
            <a:r>
              <a:rPr lang="en-US" sz="6200" b="1" dirty="0"/>
              <a:t>CO6 – Program Development using Data Structures</a:t>
            </a:r>
            <a:endParaRPr lang="en-US" sz="6200" dirty="0"/>
          </a:p>
          <a:p>
            <a:r>
              <a:rPr lang="en-US" sz="6200" dirty="0"/>
              <a:t>Designed and implemented a </a:t>
            </a:r>
            <a:r>
              <a:rPr lang="en-US" sz="6200" b="1" dirty="0"/>
              <a:t>complete interactive application</a:t>
            </a:r>
            <a:r>
              <a:rPr lang="en-US" sz="6200" dirty="0"/>
              <a:t> using HTML, CSS, and JavaScript.</a:t>
            </a:r>
          </a:p>
          <a:p>
            <a:r>
              <a:rPr lang="en-US" sz="6200" dirty="0"/>
              <a:t>Integrated multiple data structures and algorithms to build a functional and educational caching system.</a:t>
            </a: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344365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a:xfrm>
            <a:off x="586408" y="1749073"/>
            <a:ext cx="10515600" cy="4351338"/>
          </a:xfrm>
        </p:spPr>
        <p:txBody>
          <a:bodyPr>
            <a:normAutofit fontScale="55000" lnSpcReduction="20000"/>
          </a:bodyPr>
          <a:lstStyle/>
          <a:p>
            <a:r>
              <a:rPr lang="en-US" sz="2400" b="1" dirty="0"/>
              <a:t>CO1 – Apply Internet Fundamentals, HTML &amp; Introductory CSS Styling</a:t>
            </a:r>
            <a:endParaRPr lang="en-US" sz="2400" dirty="0"/>
          </a:p>
          <a:p>
            <a:r>
              <a:rPr lang="en-US" sz="2400" dirty="0"/>
              <a:t>Designed the webpage structure using </a:t>
            </a:r>
            <a:r>
              <a:rPr lang="en-US" sz="2400" b="1" dirty="0"/>
              <a:t>HTML elements such as headings, </a:t>
            </a:r>
            <a:r>
              <a:rPr lang="en-US" sz="2400" b="1" dirty="0" err="1"/>
              <a:t>divs</a:t>
            </a:r>
            <a:r>
              <a:rPr lang="en-US" sz="2400" b="1" dirty="0"/>
              <a:t>, inputs, and buttons</a:t>
            </a:r>
            <a:r>
              <a:rPr lang="en-US" sz="2400" dirty="0"/>
              <a:t>.</a:t>
            </a:r>
          </a:p>
          <a:p>
            <a:r>
              <a:rPr lang="en-US" sz="2400" dirty="0"/>
              <a:t>Applied </a:t>
            </a:r>
            <a:r>
              <a:rPr lang="en-US" sz="2400" b="1" dirty="0"/>
              <a:t>basic CSS styling</a:t>
            </a:r>
            <a:r>
              <a:rPr lang="en-US" sz="2400" dirty="0"/>
              <a:t> for layout, colors, and overall visual appearance of the dashboard.</a:t>
            </a:r>
          </a:p>
          <a:p>
            <a:r>
              <a:rPr lang="en-US" sz="2400" b="1" dirty="0"/>
              <a:t>CO2 – Apply HTML Forms, Semantic Tags &amp; Comprehensive CSS Layouts</a:t>
            </a:r>
            <a:endParaRPr lang="en-US" sz="2400" dirty="0"/>
          </a:p>
          <a:p>
            <a:r>
              <a:rPr lang="en-US" sz="2400" dirty="0"/>
              <a:t>Implemented </a:t>
            </a:r>
            <a:r>
              <a:rPr lang="en-US" sz="2400" b="1" dirty="0"/>
              <a:t>input fields and form-like components</a:t>
            </a:r>
            <a:r>
              <a:rPr lang="en-US" sz="2400" dirty="0"/>
              <a:t> to accept cache capacity, keys, and values from users.</a:t>
            </a:r>
          </a:p>
          <a:p>
            <a:r>
              <a:rPr lang="en-US" sz="2400" dirty="0"/>
              <a:t>Used </a:t>
            </a:r>
            <a:r>
              <a:rPr lang="en-US" sz="2400" b="1" dirty="0"/>
              <a:t>CSS layouts (cards, grids, containers)</a:t>
            </a:r>
            <a:r>
              <a:rPr lang="en-US" sz="2400" dirty="0"/>
              <a:t> to organize the interface clearly and responsively.</a:t>
            </a:r>
          </a:p>
          <a:p>
            <a:r>
              <a:rPr lang="en-US" sz="2400" b="1" dirty="0"/>
              <a:t>CO3 – Apply JavaScript Programming Essentials</a:t>
            </a:r>
            <a:endParaRPr lang="en-US" sz="2400" dirty="0"/>
          </a:p>
          <a:p>
            <a:r>
              <a:rPr lang="en-US" sz="2400" dirty="0"/>
              <a:t>Implemented core logic using </a:t>
            </a:r>
            <a:r>
              <a:rPr lang="en-US" sz="2400" b="1" dirty="0"/>
              <a:t>JavaScript classes, functions, and variables</a:t>
            </a:r>
            <a:r>
              <a:rPr lang="en-US" sz="2400" dirty="0"/>
              <a:t>.</a:t>
            </a:r>
          </a:p>
          <a:p>
            <a:r>
              <a:rPr lang="en-US" sz="2400" dirty="0"/>
              <a:t>Developed the </a:t>
            </a:r>
            <a:r>
              <a:rPr lang="en-US" sz="2400" b="1" dirty="0"/>
              <a:t>LRU cache algorithm and data structure operations</a:t>
            </a:r>
            <a:r>
              <a:rPr lang="en-US" sz="2400" dirty="0"/>
              <a:t> using JavaScript.</a:t>
            </a:r>
          </a:p>
          <a:p>
            <a:r>
              <a:rPr lang="en-US" sz="2400" b="1" dirty="0"/>
              <a:t>CO4 – Apply JavaScript Interactivity and DOM Manipulation</a:t>
            </a:r>
            <a:endParaRPr lang="en-US" sz="2400" dirty="0"/>
          </a:p>
          <a:p>
            <a:r>
              <a:rPr lang="en-US" sz="2400" dirty="0"/>
              <a:t>Used </a:t>
            </a:r>
            <a:r>
              <a:rPr lang="en-US" sz="2400" b="1" dirty="0"/>
              <a:t>DOM manipulation</a:t>
            </a:r>
            <a:r>
              <a:rPr lang="en-US" sz="2400" dirty="0"/>
              <a:t> to dynamically update cache display, statistics, and operation history.</a:t>
            </a:r>
          </a:p>
          <a:p>
            <a:r>
              <a:rPr lang="en-US" sz="2400" dirty="0"/>
              <a:t>Implemented interactive features such as </a:t>
            </a:r>
            <a:r>
              <a:rPr lang="en-US" sz="2400" b="1" dirty="0"/>
              <a:t>button actions, theme toggle, and real-time UI updates</a:t>
            </a:r>
            <a:r>
              <a:rPr lang="en-US" sz="2400" dirty="0"/>
              <a:t>.</a:t>
            </a:r>
          </a:p>
          <a:p>
            <a:r>
              <a:rPr lang="en-US" sz="2400" b="1" dirty="0"/>
              <a:t>CO5 – Apply Advanced Web Development &amp; Deployment</a:t>
            </a:r>
            <a:endParaRPr lang="en-US" sz="2400" dirty="0"/>
          </a:p>
          <a:p>
            <a:r>
              <a:rPr lang="en-US" sz="2400" dirty="0"/>
              <a:t>Integrated features like </a:t>
            </a:r>
            <a:r>
              <a:rPr lang="en-US" sz="2400" b="1" dirty="0"/>
              <a:t>data visualization using charts, JSON export/import, and benchmarking tools</a:t>
            </a:r>
            <a:r>
              <a:rPr lang="en-US" sz="2400" dirty="0"/>
              <a:t>.</a:t>
            </a:r>
          </a:p>
          <a:p>
            <a:r>
              <a:rPr lang="en-US" sz="2400" dirty="0"/>
              <a:t>Structured the project so it can be </a:t>
            </a:r>
            <a:r>
              <a:rPr lang="en-US" sz="2400" b="1" dirty="0"/>
              <a:t>easily deployed as a web application on browsers or hosting platforms</a:t>
            </a:r>
            <a:r>
              <a:rPr lang="en-US" sz="2400" dirty="0"/>
              <a:t>.</a:t>
            </a:r>
          </a:p>
          <a:p>
            <a:pPr marL="0" indent="0">
              <a:buNone/>
            </a:pPr>
            <a:endParaRPr lang="en-US" sz="2400" dirty="0"/>
          </a:p>
          <a:p>
            <a:pPr marL="0" indent="0">
              <a:buNone/>
            </a:pPr>
            <a:endParaRPr lang="en-US" sz="2400"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Rectangle 3">
            <a:extLst>
              <a:ext uri="{FF2B5EF4-FFF2-40B4-BE49-F238E27FC236}">
                <a16:creationId xmlns:a16="http://schemas.microsoft.com/office/drawing/2014/main" id="{5E0A4909-8CC6-1EF7-D629-D5593E72011B}"/>
              </a:ext>
            </a:extLst>
          </p:cNvPr>
          <p:cNvSpPr>
            <a:spLocks noChangeArrowheads="1"/>
          </p:cNvSpPr>
          <p:nvPr/>
        </p:nvSpPr>
        <p:spPr bwMode="auto">
          <a:xfrm>
            <a:off x="152400" y="-1707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for FWD &amp; DSA</a:t>
            </a:r>
          </a:p>
        </p:txBody>
      </p:sp>
      <p:sp>
        <p:nvSpPr>
          <p:cNvPr id="7" name="Content Placeholder 6">
            <a:extLst>
              <a:ext uri="{FF2B5EF4-FFF2-40B4-BE49-F238E27FC236}">
                <a16:creationId xmlns:a16="http://schemas.microsoft.com/office/drawing/2014/main" id="{1C67B4FF-A889-4484-BADE-07391ABD6AD2}"/>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3431953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lnSpcReduction="10000"/>
          </a:bodyPr>
          <a:lstStyle/>
          <a:p>
            <a:r>
              <a:rPr lang="en-US" dirty="0"/>
              <a:t>This project successfully demonstrates the implementation of an </a:t>
            </a:r>
            <a:r>
              <a:rPr lang="en-US" b="1" dirty="0"/>
              <a:t>LRU (Least Recently Used) Cache Engine</a:t>
            </a:r>
            <a:r>
              <a:rPr lang="en-US" dirty="0"/>
              <a:t> through an interactive web application. By combining efficient data structures such as </a:t>
            </a:r>
            <a:r>
              <a:rPr lang="en-US" b="1" dirty="0"/>
              <a:t>HashMap and Doubly Linked List</a:t>
            </a:r>
            <a:r>
              <a:rPr lang="en-US" dirty="0"/>
              <a:t>, the system ensures fast cache operations like insertion, retrieval, and deletion with optimal time complexity. The project also provides visual insights into cache behavior through statistics, charts, and operation tracking.</a:t>
            </a:r>
          </a:p>
          <a:p>
            <a:r>
              <a:rPr lang="en-US" dirty="0"/>
              <a:t>Overall, the system helps in understanding how caching mechanisms improve data access efficiency in real-world applications. It effectively applies core </a:t>
            </a:r>
            <a:r>
              <a:rPr lang="en-US" b="1" dirty="0"/>
              <a:t>Data Structures and Web Development concepts</a:t>
            </a:r>
            <a:r>
              <a:rPr lang="en-US" dirty="0"/>
              <a:t>, making it both a functional tool and an educational model for learning algorithms, memory management, and interactive system design.</a:t>
            </a:r>
          </a:p>
          <a:p>
            <a:pPr marL="0" indent="0">
              <a:buNone/>
            </a:pPr>
            <a:r>
              <a:rPr lang="en-US" dirty="0">
                <a:latin typeface="Times New Roman" panose="02020603050405020304" pitchFamily="18" charset="0"/>
                <a:cs typeface="Times New Roman" panose="02020603050405020304" pitchFamily="18" charset="0"/>
              </a:rPr>
              <a:t>.</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2858912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sp>
        <p:nvSpPr>
          <p:cNvPr id="3" name="Content Placeholder 2">
            <a:extLst>
              <a:ext uri="{FF2B5EF4-FFF2-40B4-BE49-F238E27FC236}">
                <a16:creationId xmlns:a16="http://schemas.microsoft.com/office/drawing/2014/main" id="{81383DFD-4145-46B6-BA5B-4C9D68B54059}"/>
              </a:ext>
            </a:extLst>
          </p:cNvPr>
          <p:cNvSpPr>
            <a:spLocks noGrp="1"/>
          </p:cNvSpPr>
          <p:nvPr>
            <p:ph idx="1"/>
          </p:nvPr>
        </p:nvSpPr>
        <p:spPr/>
        <p:txBody>
          <a:bodyPr>
            <a:normAutofit/>
          </a:bodyPr>
          <a:lstStyle/>
          <a:p>
            <a:pPr marL="0" marR="0" lvl="0" indent="0" algn="just">
              <a:spcBef>
                <a:spcPts val="0"/>
              </a:spcBef>
              <a:spcAft>
                <a:spcPts val="0"/>
              </a:spcAft>
              <a:buNone/>
              <a:tabLst>
                <a:tab pos="228600" algn="l"/>
                <a:tab pos="228600" algn="l"/>
                <a:tab pos="282575" algn="l"/>
                <a:tab pos="339725" algn="l"/>
              </a:tabLst>
            </a:pPr>
            <a:endParaRPr lang="en-US" dirty="0"/>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2357471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4213958207"/>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4034</TotalTime>
  <Words>1704</Words>
  <Application>Microsoft Office PowerPoint</Application>
  <PresentationFormat>Widescreen</PresentationFormat>
  <Paragraphs>141</Paragraphs>
  <Slides>14</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Arial</vt:lpstr>
      <vt:lpstr>Calibri</vt:lpstr>
      <vt:lpstr>Calibri Light</vt:lpstr>
      <vt:lpstr>Century Gothic</vt:lpstr>
      <vt:lpstr>Times New Roman</vt:lpstr>
      <vt:lpstr>Wingdings 3</vt:lpstr>
      <vt:lpstr>Custom Design</vt:lpstr>
      <vt:lpstr>Ion</vt:lpstr>
      <vt:lpstr>Title: Scalable High- Performance Cache Engine</vt:lpstr>
      <vt:lpstr>OUTLINE</vt:lpstr>
      <vt:lpstr>Abstract</vt:lpstr>
      <vt:lpstr>Existing System </vt:lpstr>
      <vt:lpstr>Proposed System</vt:lpstr>
      <vt:lpstr>System Architecture</vt:lpstr>
      <vt:lpstr>Project Modules</vt:lpstr>
      <vt:lpstr>                             Objectives</vt:lpstr>
      <vt:lpstr>Co’s Attainments - DSA</vt:lpstr>
      <vt:lpstr>Co’s Attainments - FWD</vt:lpstr>
      <vt:lpstr>Screenshots for FWD &amp;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USER</cp:lastModifiedBy>
  <cp:revision>59</cp:revision>
  <dcterms:created xsi:type="dcterms:W3CDTF">2022-05-20T10:20:31Z</dcterms:created>
  <dcterms:modified xsi:type="dcterms:W3CDTF">2026-03-09T17:41:51Z</dcterms:modified>
</cp:coreProperties>
</file>